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CDCA7BCD-EEE2-31BA-A727-223364D19176}">
          <p14:sldIdLst>
            <p14:sldId id="256"/>
          </p14:sldIdLst>
        </p14:section>
        <p14:section name="Concept" id="{34118568-03C7-F9A3-43FF-82BB9C714FDE}">
          <p14:sldIdLst>
            <p14:sldId id="257"/>
            <p14:sldId id="258"/>
            <p14:sldId id="259"/>
            <p14:sldId id="260"/>
          </p14:sldIdLst>
        </p14:section>
        <p14:section name="Website" id="{4F9EEBAF-5C44-AD78-80FB-38E769C89A27}">
          <p14:sldIdLst>
            <p14:sldId id="261"/>
            <p14:sldId id="262"/>
            <p14:sldId id="263"/>
          </p14:sldIdLst>
        </p14:section>
        <p14:section name="Design" id="{A5E0C065-F3D2-942C-9181-8A5203609B09}">
          <p14:sldIdLst>
            <p14:sldId id="264"/>
            <p14:sldId id="265"/>
            <p14:sldId id="266"/>
            <p14:sldId id="267"/>
            <p14:sldId id="268"/>
          </p14:sldIdLst>
        </p14:section>
        <p14:section name="Process" id="{7163E5C6-1C8B-E250-5F88-2A04626E544A}">
          <p14:sldIdLst>
            <p14:sldId id="269"/>
            <p14:sldId id="270"/>
            <p14:sldId id="271"/>
            <p14:sldId id="272"/>
          </p14:sldIdLst>
        </p14:section>
        <p14:section name="Conclusion" id="{65770C3F-A09B-8232-9960-D5BF502C6F69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8D751B-7905-458E-9571-2DD1D2C8ACB9}" v="1" dt="2026-10-27T11:30:41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8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5810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240280"/>
            <a:ext cx="731520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chemeClr val="accent3"/>
                </a:solidFill>
              </a:rPr>
              <a:t>ADVENTURE ESCAPE SOUTH AFRICA  |  GROUP WORK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chemeClr val="accent2"/>
                </a:solidFill>
              </a:rPr>
              <a:t>ADVENTURE ESCAPE SOUTH AFRICA  |  GROUP WORK</a:t>
            </a:r>
            <a:endParaRPr lang="en-US" sz="9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2402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ADVENTURE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ESCAPE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83880" y="777240"/>
            <a:ext cx="5120640" cy="5120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1188720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Adventure Escape South Afric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2296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886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 Project Presentation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Integrated Learning • Group Project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892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[Konanani Nkateko </a:t>
            </a:r>
            <a:r>
              <a:rPr lang="en-US" sz="1400" dirty="0" err="1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Fhumulani</a:t>
            </a: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257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Class: [XHAW5112]  |  Date: [27/10/2026]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 •  SOLVE  •  ESCAPE</a:t>
            </a:r>
            <a:endParaRPr lang="en-US" sz="1200" dirty="0"/>
          </a:p>
        </p:txBody>
      </p:sp>
      <p:pic>
        <p:nvPicPr>
          <p:cNvPr id="11" name="Image 1" descr="Mobile app home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3192" y="914400"/>
            <a:ext cx="2402015" cy="4846320"/>
          </a:xfrm>
          <a:prstGeom prst="rect">
            <a:avLst/>
          </a:prstGeom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| PROJECT OVERVIEW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Introducing the idea behind our Adventure Escape website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Escape is a website concept designed to bring the excitement of escape-room challenges and adventure experiences online.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640080" y="2834640"/>
            <a:ext cx="3453384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3108960"/>
            <a:ext cx="457200" cy="6400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794760"/>
            <a:ext cx="29047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engaging place where visitors can discover adventure challenges and learn how to take part.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367784" y="2834640"/>
            <a:ext cx="3453384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42104" y="3108960"/>
            <a:ext cx="457200" cy="6400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642104" y="333756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AUDIENCE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42104" y="3794760"/>
            <a:ext cx="29047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Friends, families, students, and groups looking for a fun activity or team-building experience.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8095488" y="2834640"/>
            <a:ext cx="3453384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369808" y="3108960"/>
            <a:ext cx="457200" cy="64008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369808" y="333756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69808" y="3794760"/>
            <a:ext cx="29047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information clearly and make it easy for users to explore activities and contact the team.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THE NEED WE ADDRESS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an Adventure Escape website can be useful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640080" y="1783080"/>
            <a:ext cx="531723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4231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60120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6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011680"/>
            <a:ext cx="36713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need a simple way to discover exciting group activities.</a:t>
            </a:r>
            <a:endParaRPr lang="en-US" sz="1800" dirty="0"/>
          </a:p>
        </p:txBody>
      </p:sp>
      <p:sp>
        <p:nvSpPr>
          <p:cNvPr id="8" name="Card"/>
          <p:cNvSpPr/>
          <p:nvPr/>
        </p:nvSpPr>
        <p:spPr>
          <a:xfrm>
            <a:off x="6231636" y="1783080"/>
            <a:ext cx="531723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51676" y="24231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551676" y="24231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60" dirty="0"/>
          </a:p>
        </p:txBody>
      </p:sp>
      <p:sp>
        <p:nvSpPr>
          <p:cNvPr id="11" name="Text 9"/>
          <p:cNvSpPr txBox="1"/>
          <p:nvPr/>
        </p:nvSpPr>
        <p:spPr>
          <a:xfrm>
            <a:off x="7557516" y="2011680"/>
            <a:ext cx="36713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details—such as the experience, rules, and how to enquire—should be easy to find.</a:t>
            </a:r>
            <a:endParaRPr lang="en-US" sz="1800" dirty="0"/>
          </a:p>
        </p:txBody>
      </p:sp>
      <p:sp>
        <p:nvSpPr>
          <p:cNvPr id="12" name="Card"/>
          <p:cNvSpPr/>
          <p:nvPr/>
        </p:nvSpPr>
        <p:spPr>
          <a:xfrm>
            <a:off x="640080" y="3977640"/>
            <a:ext cx="531723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60120" y="46177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60120" y="4617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60" dirty="0"/>
          </a:p>
        </p:txBody>
      </p:sp>
      <p:sp>
        <p:nvSpPr>
          <p:cNvPr id="15" name="Text 13"/>
          <p:cNvSpPr txBox="1"/>
          <p:nvPr/>
        </p:nvSpPr>
        <p:spPr>
          <a:xfrm>
            <a:off x="1965960" y="4206240"/>
            <a:ext cx="36713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well-organised website helps visitors understand the concept before making contact.</a:t>
            </a:r>
            <a:endParaRPr lang="en-US" sz="1800" dirty="0"/>
          </a:p>
        </p:txBody>
      </p:sp>
      <p:sp>
        <p:nvSpPr>
          <p:cNvPr id="16" name="Card"/>
          <p:cNvSpPr/>
          <p:nvPr/>
        </p:nvSpPr>
        <p:spPr>
          <a:xfrm>
            <a:off x="6231636" y="3977640"/>
            <a:ext cx="531723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51676" y="46177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551676" y="4617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60" dirty="0"/>
          </a:p>
        </p:txBody>
      </p:sp>
      <p:sp>
        <p:nvSpPr>
          <p:cNvPr id="19" name="Text 17"/>
          <p:cNvSpPr txBox="1"/>
          <p:nvPr/>
        </p:nvSpPr>
        <p:spPr>
          <a:xfrm>
            <a:off x="7557516" y="4206240"/>
            <a:ext cx="36713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website can make the adventure feel exciting through clear content and visual design.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 PROJECT GOALS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want our website to achieve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55748" cy="4206240"/>
          </a:xfrm>
          <a:prstGeom prst="roundRect">
            <a:avLst>
              <a:gd name="adj" fmla="val 4293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103120"/>
            <a:ext cx="20071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926080"/>
            <a:ext cx="2007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520440"/>
            <a:ext cx="20071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Adventure Escape concept, activities, and visitor expectations.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24428" y="1828800"/>
            <a:ext cx="2555748" cy="4206240"/>
          </a:xfrm>
          <a:prstGeom prst="roundRect">
            <a:avLst>
              <a:gd name="adj" fmla="val 4293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698748" y="2103120"/>
            <a:ext cx="20071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98748" y="2926080"/>
            <a:ext cx="2007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698748" y="3520440"/>
            <a:ext cx="20071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adventurous look and clear calls to action to keep visitors interested.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08776" y="1828800"/>
            <a:ext cx="2555748" cy="4206240"/>
          </a:xfrm>
          <a:prstGeom prst="roundRect">
            <a:avLst>
              <a:gd name="adj" fmla="val 4293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83096" y="2103120"/>
            <a:ext cx="20071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83096" y="2926080"/>
            <a:ext cx="2007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83096" y="3520440"/>
            <a:ext cx="20071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move between pages and find the information they need.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93124" y="1828800"/>
            <a:ext cx="2555748" cy="4206240"/>
          </a:xfrm>
          <a:prstGeom prst="roundRect">
            <a:avLst>
              <a:gd name="adj" fmla="val 4293"/>
            </a:avLst>
          </a:prstGeom>
          <a:solidFill>
            <a:schemeClr val="tx2"/>
          </a:solidFill>
          <a:ln/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267444" y="2103120"/>
            <a:ext cx="20071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67444" y="2926080"/>
            <a:ext cx="20071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267444" y="3520440"/>
            <a:ext cx="200710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visitors a clear way to ask questions or enquire about an experience.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| TARGET USERS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with the visitor in mind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640080" y="1783080"/>
            <a:ext cx="3453384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4320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SEEKERS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00400"/>
            <a:ext cx="2904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enjoy puzzles, challenges, mystery, and trying something new.</a:t>
            </a:r>
            <a:endParaRPr lang="en-US" sz="1600" dirty="0"/>
          </a:p>
        </p:txBody>
      </p:sp>
      <p:sp>
        <p:nvSpPr>
          <p:cNvPr id="9" name="Card"/>
          <p:cNvSpPr/>
          <p:nvPr/>
        </p:nvSpPr>
        <p:spPr>
          <a:xfrm>
            <a:off x="4367784" y="1783080"/>
            <a:ext cx="3453384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42104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642104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4642104" y="274320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 &amp; FAMILIES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42104" y="3200400"/>
            <a:ext cx="2904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looking for an entertaining activity to enjoy together.</a:t>
            </a:r>
            <a:endParaRPr lang="en-US" sz="1600" dirty="0"/>
          </a:p>
        </p:txBody>
      </p:sp>
      <p:sp>
        <p:nvSpPr>
          <p:cNvPr id="14" name="Card"/>
          <p:cNvSpPr/>
          <p:nvPr/>
        </p:nvSpPr>
        <p:spPr>
          <a:xfrm>
            <a:off x="8095488" y="1783080"/>
            <a:ext cx="3453384" cy="2651760"/>
          </a:xfrm>
          <a:prstGeom prst="roundRect">
            <a:avLst>
              <a:gd name="adj" fmla="val 4138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69808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36980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8369808" y="2743200"/>
            <a:ext cx="2904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GROUPS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3200400"/>
            <a:ext cx="29047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or colleagues interested in teamwork and problem-solving.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10908792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097280" y="4754880"/>
            <a:ext cx="99943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design should be clear, easy to navigate, and suitable for users with different levels of web experience.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| WEBSITE PAGES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simple structure for the user journey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640080" y="1783080"/>
            <a:ext cx="3453384" cy="4251960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53384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3453384" cy="32004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14400" y="178308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LANDING PAGE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88920"/>
            <a:ext cx="29047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Welcoming headline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introduction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Adventure-themed image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call-to-action button</a:t>
            </a:r>
            <a:endParaRPr lang="en-US" sz="1700" dirty="0"/>
          </a:p>
        </p:txBody>
      </p:sp>
      <p:sp>
        <p:nvSpPr>
          <p:cNvPr id="9" name="Card"/>
          <p:cNvSpPr/>
          <p:nvPr/>
        </p:nvSpPr>
        <p:spPr>
          <a:xfrm>
            <a:off x="4367784" y="1783080"/>
            <a:ext cx="3453384" cy="4251960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67784" y="1783080"/>
            <a:ext cx="3453384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67784" y="2194560"/>
            <a:ext cx="3453384" cy="32004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642104" y="178308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ADVENTURES PAGE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42104" y="2788920"/>
            <a:ext cx="29047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challenges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descriptions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or theme details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visitors can expect</a:t>
            </a:r>
            <a:endParaRPr lang="en-US" sz="1700" dirty="0"/>
          </a:p>
        </p:txBody>
      </p:sp>
      <p:sp>
        <p:nvSpPr>
          <p:cNvPr id="14" name="Card"/>
          <p:cNvSpPr/>
          <p:nvPr/>
        </p:nvSpPr>
        <p:spPr>
          <a:xfrm>
            <a:off x="8095488" y="1783080"/>
            <a:ext cx="3453384" cy="4251960"/>
          </a:xfrm>
          <a:prstGeom prst="roundRect">
            <a:avLst>
              <a:gd name="adj" fmla="val 3177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95488" y="1783080"/>
            <a:ext cx="3453384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95488" y="2194560"/>
            <a:ext cx="3453384" cy="32004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8369808" y="1783080"/>
            <a:ext cx="29047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/ BOOKING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69808" y="2788920"/>
            <a:ext cx="290474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information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Enquiry form or details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enquiry option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next steps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| KEY WEBSITE FEATURES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that support a useful visitor experience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640080" y="1783080"/>
            <a:ext cx="3453384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2011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06040"/>
            <a:ext cx="2904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menu that links the main pages together.</a:t>
            </a:r>
            <a:endParaRPr lang="en-US" sz="1600" dirty="0"/>
          </a:p>
        </p:txBody>
      </p:sp>
      <p:sp>
        <p:nvSpPr>
          <p:cNvPr id="7" name="Card"/>
          <p:cNvSpPr/>
          <p:nvPr/>
        </p:nvSpPr>
        <p:spPr>
          <a:xfrm>
            <a:off x="4367784" y="1783080"/>
            <a:ext cx="3453384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642104" y="2011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642104" y="2606040"/>
            <a:ext cx="2904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Adventure-themed headings, images, and colours.</a:t>
            </a:r>
            <a:endParaRPr lang="en-US" sz="1600" dirty="0"/>
          </a:p>
        </p:txBody>
      </p:sp>
      <p:sp>
        <p:nvSpPr>
          <p:cNvPr id="10" name="Card"/>
          <p:cNvSpPr/>
          <p:nvPr/>
        </p:nvSpPr>
        <p:spPr>
          <a:xfrm>
            <a:off x="8095488" y="1783080"/>
            <a:ext cx="3453384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369808" y="20116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8369808" y="2606040"/>
            <a:ext cx="2904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text with a clear visual hierarchy.</a:t>
            </a:r>
            <a:endParaRPr lang="en-US" sz="1600" dirty="0"/>
          </a:p>
        </p:txBody>
      </p:sp>
      <p:sp>
        <p:nvSpPr>
          <p:cNvPr id="13" name="Card"/>
          <p:cNvSpPr/>
          <p:nvPr/>
        </p:nvSpPr>
        <p:spPr>
          <a:xfrm>
            <a:off x="640080" y="3977640"/>
            <a:ext cx="3453384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14400" y="4206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800600"/>
            <a:ext cx="2904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or links that guide visitors to the next step.</a:t>
            </a:r>
            <a:endParaRPr lang="en-US" sz="1600" dirty="0"/>
          </a:p>
        </p:txBody>
      </p:sp>
      <p:sp>
        <p:nvSpPr>
          <p:cNvPr id="16" name="Card"/>
          <p:cNvSpPr/>
          <p:nvPr/>
        </p:nvSpPr>
        <p:spPr>
          <a:xfrm>
            <a:off x="4367784" y="3977640"/>
            <a:ext cx="3453384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642104" y="4206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4642104" y="4800600"/>
            <a:ext cx="2904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layout principles so the website can work on different screen sizes.</a:t>
            </a:r>
            <a:endParaRPr lang="en-US" sz="1600" dirty="0"/>
          </a:p>
        </p:txBody>
      </p:sp>
      <p:sp>
        <p:nvSpPr>
          <p:cNvPr id="19" name="Card"/>
          <p:cNvSpPr/>
          <p:nvPr/>
        </p:nvSpPr>
        <p:spPr>
          <a:xfrm>
            <a:off x="8095488" y="3977640"/>
            <a:ext cx="3453384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369808" y="42062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8369808" y="4800600"/>
            <a:ext cx="29047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or enquiry information that is easy to locate.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| DESIGN AND USER EXPERIENCE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the website easy and enjoyable to use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640080" y="1783080"/>
            <a:ext cx="531723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64008" cy="14630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234440" y="2057400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STYLE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514600"/>
            <a:ext cx="44028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Adventure-inspired imagery, strong contrast, and consistent colours.</a:t>
            </a:r>
            <a:endParaRPr lang="en-US" sz="1700" dirty="0"/>
          </a:p>
        </p:txBody>
      </p:sp>
      <p:sp>
        <p:nvSpPr>
          <p:cNvPr id="8" name="Card"/>
          <p:cNvSpPr/>
          <p:nvPr/>
        </p:nvSpPr>
        <p:spPr>
          <a:xfrm>
            <a:off x="6231636" y="1783080"/>
            <a:ext cx="531723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505956" y="2057400"/>
            <a:ext cx="64008" cy="14630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825996" y="2057400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NAVIGATION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25996" y="2514600"/>
            <a:ext cx="44028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menus, descriptive links, and a clear path between pages.</a:t>
            </a:r>
            <a:endParaRPr lang="en-US" sz="1700" dirty="0"/>
          </a:p>
        </p:txBody>
      </p:sp>
      <p:sp>
        <p:nvSpPr>
          <p:cNvPr id="12" name="Card"/>
          <p:cNvSpPr/>
          <p:nvPr/>
        </p:nvSpPr>
        <p:spPr>
          <a:xfrm>
            <a:off x="640080" y="3977640"/>
            <a:ext cx="531723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14400" y="4251960"/>
            <a:ext cx="64008" cy="14630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234440" y="4251960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4709160"/>
            <a:ext cx="44028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font sizes, meaningful image descriptions where appropriate, and clear labels.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6231636" y="3977640"/>
            <a:ext cx="5317236" cy="2011680"/>
          </a:xfrm>
          <a:prstGeom prst="roundRect">
            <a:avLst>
              <a:gd name="adj" fmla="val 545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05956" y="4251960"/>
            <a:ext cx="64008" cy="14630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825996" y="4251960"/>
            <a:ext cx="44028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USER-CENTRED THINKING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25996" y="4709160"/>
            <a:ext cx="44028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what visitors need to know and reduce unnecessary steps.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DESIGN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Figma website design: home page</a:t>
            </a:r>
            <a:endParaRPr lang="en-US" sz="2600" dirty="0"/>
          </a:p>
        </p:txBody>
      </p:sp>
      <p:pic>
        <p:nvPicPr>
          <p:cNvPr id="4" name="Image 0" descr="Figma home page hero: Unlock the Myster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7075564" cy="3017520"/>
          </a:xfrm>
          <a:prstGeom prst="rect">
            <a:avLst/>
          </a:prstGeom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</p:pic>
      <p:pic>
        <p:nvPicPr>
          <p:cNvPr id="5" name="Image 1" descr="Figma home page: escape rooms, how it works, testimonial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1404" y="1783080"/>
            <a:ext cx="3055051" cy="3017520"/>
          </a:xfrm>
          <a:prstGeom prst="rect">
            <a:avLst/>
          </a:prstGeom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640080" y="4937760"/>
            <a:ext cx="70755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or final view with HTML, CSS and JS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5349240"/>
            <a:ext cx="70755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with the “Unlock the Mystery” headline, a clear “Explore Rooms” call to action and a “Book Now” button in the navigation bar.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8081404" y="4937760"/>
            <a:ext cx="30550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Rooms, how it works, player stories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081404" y="5349240"/>
            <a:ext cx="305505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cards, a three-step “How It Works” and testimonials.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DESIGN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Rooms listing and room details</a:t>
            </a:r>
            <a:endParaRPr lang="en-US" sz="2600" dirty="0"/>
          </a:p>
        </p:txBody>
      </p:sp>
      <p:pic>
        <p:nvPicPr>
          <p:cNvPr id="4" name="Image 0" descr="All Escape Rooms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080"/>
            <a:ext cx="2855950" cy="4160520"/>
          </a:xfrm>
          <a:prstGeom prst="rect">
            <a:avLst/>
          </a:prstGeom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</p:pic>
      <p:pic>
        <p:nvPicPr>
          <p:cNvPr id="5" name="Image 1" descr="The Lost Temple room details p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6070" y="1783080"/>
            <a:ext cx="3279944" cy="4160520"/>
          </a:xfrm>
          <a:prstGeom prst="rect">
            <a:avLst/>
          </a:prstGeom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</p:pic>
      <p:sp>
        <p:nvSpPr>
          <p:cNvPr id="6" name="Card"/>
          <p:cNvSpPr/>
          <p:nvPr/>
        </p:nvSpPr>
        <p:spPr>
          <a:xfrm>
            <a:off x="7416054" y="1783080"/>
            <a:ext cx="4132818" cy="4160520"/>
          </a:xfrm>
          <a:prstGeom prst="roundRect">
            <a:avLst>
              <a:gd name="adj" fmla="val 2655"/>
            </a:avLst>
          </a:prstGeom>
          <a:solidFill>
            <a:schemeClr val="tx2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 txBox="1"/>
          <p:nvPr/>
        </p:nvSpPr>
        <p:spPr>
          <a:xfrm>
            <a:off x="7736094" y="2057400"/>
            <a:ext cx="3492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VISITORS SEE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736094" y="2560320"/>
            <a:ext cx="349273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rooms by category: All, Horror, Mystery, Adventure, Sci-Fi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cards show difficulty, duration, players and price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page: story, what to expect, rules and guidelines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panel with price from R350 per player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6035040"/>
            <a:ext cx="61358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Escape Rooms  •  The Lost Temple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43F2D1-835F-E103-2AF7-858FCDD69606}"/>
              </a:ext>
            </a:extLst>
          </p:cNvPr>
          <p:cNvSpPr txBox="1"/>
          <p:nvPr/>
        </p:nvSpPr>
        <p:spPr>
          <a:xfrm>
            <a:off x="-1222310" y="528112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DESIGN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Booking and About pages</a:t>
            </a:r>
            <a:endParaRPr lang="en-US" sz="2600" dirty="0"/>
          </a:p>
        </p:txBody>
      </p:sp>
      <p:pic>
        <p:nvPicPr>
          <p:cNvPr id="4" name="Image 0" descr="Other adventures and Book Your Experience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0700" y="1783080"/>
            <a:ext cx="3279478" cy="4023360"/>
          </a:xfrm>
          <a:prstGeom prst="rect">
            <a:avLst/>
          </a:prstGeom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</p:pic>
      <p:pic>
        <p:nvPicPr>
          <p:cNvPr id="5" name="Image 1" descr="Booking summary and About p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938" y="1783080"/>
            <a:ext cx="4485057" cy="4023360"/>
          </a:xfrm>
          <a:prstGeom prst="rect">
            <a:avLst/>
          </a:prstGeom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2030700" y="5897880"/>
            <a:ext cx="32794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Your Experience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675938" y="5897880"/>
            <a:ext cx="448505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summary and About page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DESIGN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app: the booking flow</a:t>
            </a:r>
            <a:endParaRPr lang="en-US" sz="2600" dirty="0"/>
          </a:p>
        </p:txBody>
      </p:sp>
      <p:pic>
        <p:nvPicPr>
          <p:cNvPr id="4" name="Image 0" descr="Splash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62" y="1783080"/>
            <a:ext cx="1848279" cy="3931920"/>
          </a:xfrm>
          <a:prstGeom prst="rect">
            <a:avLst/>
          </a:prstGeom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580382" y="5852160"/>
            <a:ext cx="22140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</a:t>
            </a:r>
            <a:endParaRPr lang="en-US" sz="1400" dirty="0"/>
          </a:p>
        </p:txBody>
      </p:sp>
      <p:pic>
        <p:nvPicPr>
          <p:cNvPr id="6" name="Image 1" descr="Room details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7301" y="1783080"/>
            <a:ext cx="1752625" cy="3931920"/>
          </a:xfrm>
          <a:prstGeom prst="rect">
            <a:avLst/>
          </a:prstGeom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2794421" y="5852160"/>
            <a:ext cx="211838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details</a:t>
            </a:r>
            <a:endParaRPr lang="en-US" sz="1400" dirty="0"/>
          </a:p>
        </p:txBody>
      </p:sp>
      <p:pic>
        <p:nvPicPr>
          <p:cNvPr id="8" name="Image 2" descr="Date &amp; time scre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5687" y="1783080"/>
            <a:ext cx="1899377" cy="3931920"/>
          </a:xfrm>
          <a:prstGeom prst="rect">
            <a:avLst/>
          </a:prstGeom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4912807" y="5852160"/>
            <a:ext cx="226513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time</a:t>
            </a:r>
            <a:endParaRPr lang="en-US" sz="1400" dirty="0"/>
          </a:p>
        </p:txBody>
      </p:sp>
      <p:pic>
        <p:nvPicPr>
          <p:cNvPr id="10" name="Image 3" descr="Players scree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823" y="1783080"/>
            <a:ext cx="1852341" cy="3931920"/>
          </a:xfrm>
          <a:prstGeom prst="rect">
            <a:avLst/>
          </a:prstGeom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</p:pic>
      <p:sp>
        <p:nvSpPr>
          <p:cNvPr id="11" name="Text 5"/>
          <p:cNvSpPr txBox="1"/>
          <p:nvPr/>
        </p:nvSpPr>
        <p:spPr>
          <a:xfrm>
            <a:off x="7177943" y="5852160"/>
            <a:ext cx="221810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</a:t>
            </a:r>
            <a:endParaRPr lang="en-US" sz="1400" dirty="0"/>
          </a:p>
        </p:txBody>
      </p:sp>
      <p:pic>
        <p:nvPicPr>
          <p:cNvPr id="12" name="Image 4" descr="Confirmed scree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8924" y="1783080"/>
            <a:ext cx="1849509" cy="3931920"/>
          </a:xfrm>
          <a:prstGeom prst="rect">
            <a:avLst/>
          </a:prstGeom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</p:pic>
      <p:sp>
        <p:nvSpPr>
          <p:cNvPr id="13" name="Text 6"/>
          <p:cNvSpPr txBox="1"/>
          <p:nvPr/>
        </p:nvSpPr>
        <p:spPr>
          <a:xfrm>
            <a:off x="9396044" y="5852160"/>
            <a:ext cx="22152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DESIGN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 app: browse, track and manage</a:t>
            </a:r>
            <a:endParaRPr lang="en-US" sz="2600" dirty="0"/>
          </a:p>
        </p:txBody>
      </p:sp>
      <p:pic>
        <p:nvPicPr>
          <p:cNvPr id="4" name="Image 0" descr="Home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644" y="1783080"/>
            <a:ext cx="1948805" cy="3931920"/>
          </a:xfrm>
          <a:prstGeom prst="rect">
            <a:avLst/>
          </a:prstGeom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660764" y="5852160"/>
            <a:ext cx="23145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</p:txBody>
      </p:sp>
      <p:pic>
        <p:nvPicPr>
          <p:cNvPr id="6" name="Image 1" descr="Rooms scree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8209" y="1783080"/>
            <a:ext cx="1782662" cy="3931920"/>
          </a:xfrm>
          <a:prstGeom prst="rect">
            <a:avLst/>
          </a:prstGeom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2975329" y="5852160"/>
            <a:ext cx="21484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400" dirty="0"/>
          </a:p>
        </p:txBody>
      </p:sp>
      <p:pic>
        <p:nvPicPr>
          <p:cNvPr id="8" name="Image 2" descr="My bookings scree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6631" y="1783080"/>
            <a:ext cx="1742872" cy="3931920"/>
          </a:xfrm>
          <a:prstGeom prst="rect">
            <a:avLst/>
          </a:prstGeom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</p:pic>
      <p:sp>
        <p:nvSpPr>
          <p:cNvPr id="9" name="Text 4"/>
          <p:cNvSpPr txBox="1"/>
          <p:nvPr/>
        </p:nvSpPr>
        <p:spPr>
          <a:xfrm>
            <a:off x="5123751" y="5852160"/>
            <a:ext cx="2108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bookings</a:t>
            </a:r>
            <a:endParaRPr lang="en-US" sz="1400" dirty="0"/>
          </a:p>
        </p:txBody>
      </p:sp>
      <p:pic>
        <p:nvPicPr>
          <p:cNvPr id="10" name="Image 3" descr="Notifications scree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263" y="1783080"/>
            <a:ext cx="1759017" cy="3931920"/>
          </a:xfrm>
          <a:prstGeom prst="rect">
            <a:avLst/>
          </a:prstGeom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</p:pic>
      <p:sp>
        <p:nvSpPr>
          <p:cNvPr id="11" name="Text 5"/>
          <p:cNvSpPr txBox="1"/>
          <p:nvPr/>
        </p:nvSpPr>
        <p:spPr>
          <a:xfrm>
            <a:off x="7232383" y="5852160"/>
            <a:ext cx="21247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00" dirty="0"/>
          </a:p>
        </p:txBody>
      </p:sp>
      <p:pic>
        <p:nvPicPr>
          <p:cNvPr id="12" name="Image 4" descr="Profile scree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0040" y="1783080"/>
            <a:ext cx="1808011" cy="3931920"/>
          </a:xfrm>
          <a:prstGeom prst="rect">
            <a:avLst/>
          </a:prstGeom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</p:pic>
      <p:sp>
        <p:nvSpPr>
          <p:cNvPr id="13" name="Text 6"/>
          <p:cNvSpPr txBox="1"/>
          <p:nvPr/>
        </p:nvSpPr>
        <p:spPr>
          <a:xfrm>
            <a:off x="9357160" y="5852160"/>
            <a:ext cx="21737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| TOOLS AND TECHNOLOGIES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tools behind our website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640080" y="1783080"/>
            <a:ext cx="3453384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210312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26080"/>
            <a:ext cx="2813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structure and content of the web pages.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4367784" y="1783080"/>
            <a:ext cx="3453384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687824" y="210312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687824" y="2926080"/>
            <a:ext cx="2813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layout, colours, spacing, and visual presentation.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8095488" y="1783080"/>
            <a:ext cx="3453384" cy="3200400"/>
          </a:xfrm>
          <a:prstGeom prst="roundRect">
            <a:avLst>
              <a:gd name="adj" fmla="val 3429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8415528" y="2103120"/>
            <a:ext cx="28133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8415528" y="2926080"/>
            <a:ext cx="281330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add interactive behaviour, such as menus or form feedback, if used.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5303520"/>
            <a:ext cx="10908792" cy="731520"/>
          </a:xfrm>
          <a:prstGeom prst="roundRect">
            <a:avLst>
              <a:gd name="adj" fmla="val 15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1005840" y="5303520"/>
            <a:ext cx="10177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tools (if used): Visual Studio Code  •  Figma  •  GitHub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| OUR DEVELOPMENT PROCESS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practical workflow for a group website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57807" y="2304288"/>
            <a:ext cx="8873338" cy="36576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92047" y="193852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292047" y="19385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60" dirty="0"/>
          </a:p>
        </p:txBody>
      </p:sp>
      <p:sp>
        <p:nvSpPr>
          <p:cNvPr id="7" name="Card"/>
          <p:cNvSpPr/>
          <p:nvPr/>
        </p:nvSpPr>
        <p:spPr>
          <a:xfrm>
            <a:off x="640080" y="3017520"/>
            <a:ext cx="2035454" cy="2926080"/>
          </a:xfrm>
          <a:prstGeom prst="roundRect">
            <a:avLst>
              <a:gd name="adj" fmla="val 539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840480"/>
            <a:ext cx="15782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the purpose, audience, and pages.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10382" y="193852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510382" y="19385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60" dirty="0"/>
          </a:p>
        </p:txBody>
      </p:sp>
      <p:sp>
        <p:nvSpPr>
          <p:cNvPr id="12" name="Card"/>
          <p:cNvSpPr/>
          <p:nvPr/>
        </p:nvSpPr>
        <p:spPr>
          <a:xfrm>
            <a:off x="2858414" y="3017520"/>
            <a:ext cx="2035454" cy="2926080"/>
          </a:xfrm>
          <a:prstGeom prst="roundRect">
            <a:avLst>
              <a:gd name="adj" fmla="val 539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041294" y="329184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087014" y="3840480"/>
            <a:ext cx="15782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 wireframe and decide on layout.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28716" y="193852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728716" y="19385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60" dirty="0"/>
          </a:p>
        </p:txBody>
      </p:sp>
      <p:sp>
        <p:nvSpPr>
          <p:cNvPr id="17" name="Card"/>
          <p:cNvSpPr/>
          <p:nvPr/>
        </p:nvSpPr>
        <p:spPr>
          <a:xfrm>
            <a:off x="5076749" y="3017520"/>
            <a:ext cx="2035454" cy="2926080"/>
          </a:xfrm>
          <a:prstGeom prst="roundRect">
            <a:avLst>
              <a:gd name="adj" fmla="val 539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259629" y="329184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305349" y="3840480"/>
            <a:ext cx="15782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pages and style the website.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947050" y="193852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947050" y="19385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60" dirty="0"/>
          </a:p>
        </p:txBody>
      </p:sp>
      <p:sp>
        <p:nvSpPr>
          <p:cNvPr id="22" name="Card"/>
          <p:cNvSpPr/>
          <p:nvPr/>
        </p:nvSpPr>
        <p:spPr>
          <a:xfrm>
            <a:off x="7295083" y="3017520"/>
            <a:ext cx="2035454" cy="2926080"/>
          </a:xfrm>
          <a:prstGeom prst="roundRect">
            <a:avLst>
              <a:gd name="adj" fmla="val 539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477963" y="329184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7523683" y="3840480"/>
            <a:ext cx="15782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links, layout, text, and usability.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165385" y="1938528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0165385" y="19385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6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760" dirty="0"/>
          </a:p>
        </p:txBody>
      </p:sp>
      <p:sp>
        <p:nvSpPr>
          <p:cNvPr id="27" name="Card"/>
          <p:cNvSpPr/>
          <p:nvPr/>
        </p:nvSpPr>
        <p:spPr>
          <a:xfrm>
            <a:off x="9513418" y="3017520"/>
            <a:ext cx="2035454" cy="2926080"/>
          </a:xfrm>
          <a:prstGeom prst="roundRect">
            <a:avLst>
              <a:gd name="adj" fmla="val 539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9696298" y="3291840"/>
            <a:ext cx="1669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9742018" y="3840480"/>
            <a:ext cx="15782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feedback to fix issues and refine the result.</a:t>
            </a:r>
            <a:endParaRPr lang="en-US" sz="16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| GROUP COLLABORATION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teamwork supports the project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640080" y="1783080"/>
            <a:ext cx="10908792" cy="603504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002536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325880" y="1783080"/>
            <a:ext cx="9902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responsibilities for research, design, coding, content, and testing.</a:t>
            </a:r>
            <a:endParaRPr lang="en-US" sz="1700" dirty="0"/>
          </a:p>
        </p:txBody>
      </p:sp>
      <p:sp>
        <p:nvSpPr>
          <p:cNvPr id="7" name="Card"/>
          <p:cNvSpPr/>
          <p:nvPr/>
        </p:nvSpPr>
        <p:spPr>
          <a:xfrm>
            <a:off x="640080" y="2496312"/>
            <a:ext cx="10908792" cy="603504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271576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1325880" y="2496312"/>
            <a:ext cx="9902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regularly and agree on deadlines.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640080" y="3209544"/>
            <a:ext cx="10908792" cy="603504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14400" y="3429000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325880" y="3209544"/>
            <a:ext cx="9902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shared files or version control to keep work organised, if available.</a:t>
            </a:r>
            <a:endParaRPr lang="en-US" sz="1700" dirty="0"/>
          </a:p>
        </p:txBody>
      </p:sp>
      <p:sp>
        <p:nvSpPr>
          <p:cNvPr id="13" name="Card"/>
          <p:cNvSpPr/>
          <p:nvPr/>
        </p:nvSpPr>
        <p:spPr>
          <a:xfrm>
            <a:off x="640080" y="3922776"/>
            <a:ext cx="10908792" cy="603504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14400" y="414223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1325880" y="3922776"/>
            <a:ext cx="9902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each other’s work and provide constructive feedback.</a:t>
            </a:r>
            <a:endParaRPr lang="en-US" sz="1700" dirty="0"/>
          </a:p>
        </p:txBody>
      </p:sp>
      <p:sp>
        <p:nvSpPr>
          <p:cNvPr id="16" name="Card"/>
          <p:cNvSpPr/>
          <p:nvPr/>
        </p:nvSpPr>
        <p:spPr>
          <a:xfrm>
            <a:off x="640080" y="4636008"/>
            <a:ext cx="10908792" cy="603504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" y="485546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1325880" y="4636008"/>
            <a:ext cx="9902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sure every member understands the final website and can explain their contribution.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" y="5440680"/>
            <a:ext cx="10908792" cy="6858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1005840" y="5440680"/>
            <a:ext cx="10177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 and roles: [Add each member’s name and contribution]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| CHALLENGES AND LESSONS LEARNED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7772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ran into and what we learned</a:t>
            </a:r>
            <a:endParaRPr lang="en-US" sz="2600" dirty="0"/>
          </a:p>
        </p:txBody>
      </p:sp>
      <p:sp>
        <p:nvSpPr>
          <p:cNvPr id="4" name="Card"/>
          <p:cNvSpPr/>
          <p:nvPr/>
        </p:nvSpPr>
        <p:spPr>
          <a:xfrm>
            <a:off x="640080" y="1783080"/>
            <a:ext cx="5317236" cy="425196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17236" cy="731520"/>
          </a:xfrm>
          <a:prstGeom prst="roundRect">
            <a:avLst>
              <a:gd name="adj" fmla="val 15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2194560"/>
            <a:ext cx="5317236" cy="32004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005840" y="1783080"/>
            <a:ext cx="45857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CHALLENGES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834640"/>
            <a:ext cx="458571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pages correctly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layouts consistent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 shared deadlines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display or coding errors</a:t>
            </a:r>
            <a:endParaRPr lang="en-US" sz="2000" dirty="0"/>
          </a:p>
        </p:txBody>
      </p:sp>
      <p:sp>
        <p:nvSpPr>
          <p:cNvPr id="9" name="Card"/>
          <p:cNvSpPr/>
          <p:nvPr/>
        </p:nvSpPr>
        <p:spPr>
          <a:xfrm>
            <a:off x="6231636" y="1783080"/>
            <a:ext cx="5317236" cy="425196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31636" y="1783080"/>
            <a:ext cx="5317236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231636" y="2194560"/>
            <a:ext cx="5317236" cy="3200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597396" y="1783080"/>
            <a:ext cx="45857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97396" y="2834640"/>
            <a:ext cx="458571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before coding saves time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catches issues early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improves teamwork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 helps us improve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554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| CONCLUSION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24028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adventure starts</a:t>
            </a:r>
            <a:endParaRPr lang="en-US" sz="4000" dirty="0"/>
          </a:p>
          <a:p>
            <a:pPr marL="0" indent="0" algn="l">
              <a:buNone/>
            </a:pPr>
            <a:r>
              <a:rPr lang="en-US" sz="4000" b="1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a great experience.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16052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Adventure Escape website aims to present an exciting concept through clear information, engaging design, and simple navigation.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760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chemeClr val="bg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183880" y="777240"/>
            <a:ext cx="5120640" cy="5120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Booking confirmed scre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4386" y="914400"/>
            <a:ext cx="2279628" cy="4846320"/>
          </a:xfrm>
          <a:prstGeom prst="rect">
            <a:avLst/>
          </a:prstGeom>
          <a:effectLst>
            <a:outerShdw blurRad="101600" dist="25400" dir="5400000" algn="bl" rotWithShape="0">
              <a:srgbClr val="1F2A24">
                <a:alpha val="12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dventure Escape">
  <a:themeElements>
    <a:clrScheme name="Adventure Escape">
      <a:dk1>
        <a:srgbClr val="1F2A24"/>
      </a:dk1>
      <a:lt1>
        <a:srgbClr val="FFFFFF"/>
      </a:lt1>
      <a:dk2>
        <a:srgbClr val="2D5240"/>
      </a:dk2>
      <a:lt2>
        <a:srgbClr val="F8F6F0"/>
      </a:lt2>
      <a:accent1>
        <a:srgbClr val="C8622A"/>
      </a:accent1>
      <a:accent2>
        <a:srgbClr val="E8DFC8"/>
      </a:accent2>
      <a:accent3>
        <a:srgbClr val="5B7F6B"/>
      </a:accent3>
      <a:accent4>
        <a:srgbClr val="E6EDE6"/>
      </a:accent4>
      <a:accent5>
        <a:srgbClr val="8A6A3B"/>
      </a:accent5>
      <a:accent6>
        <a:srgbClr val="B8452A"/>
      </a:accent6>
      <a:hlink>
        <a:srgbClr val="2D5240"/>
      </a:hlink>
      <a:folHlink>
        <a:srgbClr val="5B7F6B"/>
      </a:folHlink>
    </a:clrScheme>
    <a:fontScheme name="Adventure Escap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1059</Words>
  <Application>Microsoft Office PowerPoint</Application>
  <PresentationFormat>Widescreen</PresentationFormat>
  <Paragraphs>211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Adventure Escape</vt:lpstr>
      <vt:lpstr>ADVENTURE ESCAPE</vt:lpstr>
      <vt:lpstr>Introducing the idea behind our Adventure Escape website</vt:lpstr>
      <vt:lpstr>Why an Adventure Escape website can be useful</vt:lpstr>
      <vt:lpstr>What we want our website to achieve</vt:lpstr>
      <vt:lpstr>Designing with the visitor in mind</vt:lpstr>
      <vt:lpstr>A simple structure for the user journey</vt:lpstr>
      <vt:lpstr>Features that support a useful visitor experience</vt:lpstr>
      <vt:lpstr>Making the website easy and enjoyable to use</vt:lpstr>
      <vt:lpstr>Figma website design: home page</vt:lpstr>
      <vt:lpstr>Rooms listing and room details</vt:lpstr>
      <vt:lpstr>Booking and About pages</vt:lpstr>
      <vt:lpstr>Mobile app: the booking flow</vt:lpstr>
      <vt:lpstr>Mobile app: browse, track and manage</vt:lpstr>
      <vt:lpstr>The tools behind our website</vt:lpstr>
      <vt:lpstr>A practical workflow for a group website project</vt:lpstr>
      <vt:lpstr>How teamwork supports the project</vt:lpstr>
      <vt:lpstr>What we ran into and what we learned</vt:lpstr>
      <vt:lpstr>An adventure starts with a great experience.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Adventure Escape Website Presentation</dc:title>
  <dc:subject>PptxGenJS Presentation</dc:subject>
  <dc:creator>PptxGenJS</dc:creator>
  <cp:lastModifiedBy>Nkateko Baloyi</cp:lastModifiedBy>
  <cp:revision>3</cp:revision>
  <dcterms:created xsi:type="dcterms:W3CDTF">2026-10-26T20:21:04Z</dcterms:created>
  <dcterms:modified xsi:type="dcterms:W3CDTF">2026-10-27T11:31:15Z</dcterms:modified>
</cp:coreProperties>
</file>